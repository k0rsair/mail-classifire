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74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4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Clover" userId="9279fa86c2862059" providerId="LiveId" clId="{4FAE0A29-C2B6-4DBA-8FF0-ED2767DE6BDB}"/>
    <pc:docChg chg="undo custSel modSld">
      <pc:chgData name="Nathan Clover" userId="9279fa86c2862059" providerId="LiveId" clId="{4FAE0A29-C2B6-4DBA-8FF0-ED2767DE6BDB}" dt="2025-12-25T14:55:21.203" v="79" actId="20577"/>
      <pc:docMkLst>
        <pc:docMk/>
      </pc:docMkLst>
      <pc:sldChg chg="addSp modSp mod">
        <pc:chgData name="Nathan Clover" userId="9279fa86c2862059" providerId="LiveId" clId="{4FAE0A29-C2B6-4DBA-8FF0-ED2767DE6BDB}" dt="2025-12-25T14:53:10.950" v="60" actId="1076"/>
        <pc:sldMkLst>
          <pc:docMk/>
          <pc:sldMk cId="1035101625" sldId="257"/>
        </pc:sldMkLst>
        <pc:spChg chg="add mod">
          <ac:chgData name="Nathan Clover" userId="9279fa86c2862059" providerId="LiveId" clId="{4FAE0A29-C2B6-4DBA-8FF0-ED2767DE6BDB}" dt="2025-12-25T14:53:10.950" v="60" actId="1076"/>
          <ac:spMkLst>
            <pc:docMk/>
            <pc:sldMk cId="1035101625" sldId="257"/>
            <ac:spMk id="3" creationId="{2280C6AF-67F4-4690-9388-02A1379AA9B6}"/>
          </ac:spMkLst>
        </pc:spChg>
      </pc:sldChg>
      <pc:sldChg chg="modSp mod">
        <pc:chgData name="Nathan Clover" userId="9279fa86c2862059" providerId="LiveId" clId="{4FAE0A29-C2B6-4DBA-8FF0-ED2767DE6BDB}" dt="2025-12-25T14:54:33.508" v="65"/>
        <pc:sldMkLst>
          <pc:docMk/>
          <pc:sldMk cId="1527480548" sldId="258"/>
        </pc:sldMkLst>
        <pc:spChg chg="mod">
          <ac:chgData name="Nathan Clover" userId="9279fa86c2862059" providerId="LiveId" clId="{4FAE0A29-C2B6-4DBA-8FF0-ED2767DE6BDB}" dt="2025-12-25T14:54:33.508" v="65"/>
          <ac:spMkLst>
            <pc:docMk/>
            <pc:sldMk cId="1527480548" sldId="258"/>
            <ac:spMk id="3" creationId="{C5BEBA24-C8BF-4BCA-B96E-B68C4876EA26}"/>
          </ac:spMkLst>
        </pc:spChg>
      </pc:sldChg>
      <pc:sldChg chg="modSp mod">
        <pc:chgData name="Nathan Clover" userId="9279fa86c2862059" providerId="LiveId" clId="{4FAE0A29-C2B6-4DBA-8FF0-ED2767DE6BDB}" dt="2025-12-25T14:55:21.203" v="79" actId="20577"/>
        <pc:sldMkLst>
          <pc:docMk/>
          <pc:sldMk cId="3305631089" sldId="259"/>
        </pc:sldMkLst>
        <pc:spChg chg="mod">
          <ac:chgData name="Nathan Clover" userId="9279fa86c2862059" providerId="LiveId" clId="{4FAE0A29-C2B6-4DBA-8FF0-ED2767DE6BDB}" dt="2025-12-25T14:55:21.203" v="79" actId="20577"/>
          <ac:spMkLst>
            <pc:docMk/>
            <pc:sldMk cId="3305631089" sldId="259"/>
            <ac:spMk id="3" creationId="{D96217A6-ADC3-4197-AF71-ECF903A9C504}"/>
          </ac:spMkLst>
        </pc:spChg>
      </pc:sldChg>
      <pc:sldChg chg="addSp modSp mod">
        <pc:chgData name="Nathan Clover" userId="9279fa86c2862059" providerId="LiveId" clId="{4FAE0A29-C2B6-4DBA-8FF0-ED2767DE6BDB}" dt="2025-12-24T21:00:35.813" v="39" actId="1440"/>
        <pc:sldMkLst>
          <pc:docMk/>
          <pc:sldMk cId="1058537149" sldId="261"/>
        </pc:sldMkLst>
        <pc:picChg chg="add mod">
          <ac:chgData name="Nathan Clover" userId="9279fa86c2862059" providerId="LiveId" clId="{4FAE0A29-C2B6-4DBA-8FF0-ED2767DE6BDB}" dt="2025-12-24T21:00:35.813" v="39" actId="1440"/>
          <ac:picMkLst>
            <pc:docMk/>
            <pc:sldMk cId="1058537149" sldId="261"/>
            <ac:picMk id="5" creationId="{8E4ECABC-E3AF-4227-9882-C3F68AC23814}"/>
          </ac:picMkLst>
        </pc:picChg>
      </pc:sldChg>
      <pc:sldChg chg="addSp delSp modSp mod">
        <pc:chgData name="Nathan Clover" userId="9279fa86c2862059" providerId="LiveId" clId="{4FAE0A29-C2B6-4DBA-8FF0-ED2767DE6BDB}" dt="2025-12-24T21:13:57.049" v="56" actId="1440"/>
        <pc:sldMkLst>
          <pc:docMk/>
          <pc:sldMk cId="4167199225" sldId="262"/>
        </pc:sldMkLst>
        <pc:spChg chg="mod">
          <ac:chgData name="Nathan Clover" userId="9279fa86c2862059" providerId="LiveId" clId="{4FAE0A29-C2B6-4DBA-8FF0-ED2767DE6BDB}" dt="2025-12-24T20:57:21.727" v="16" actId="20577"/>
          <ac:spMkLst>
            <pc:docMk/>
            <pc:sldMk cId="4167199225" sldId="262"/>
            <ac:spMk id="3" creationId="{0C448E49-5639-43C7-902F-4785B478917E}"/>
          </ac:spMkLst>
        </pc:spChg>
        <pc:picChg chg="add mod modCrop">
          <ac:chgData name="Nathan Clover" userId="9279fa86c2862059" providerId="LiveId" clId="{4FAE0A29-C2B6-4DBA-8FF0-ED2767DE6BDB}" dt="2025-12-24T21:13:57.049" v="56" actId="1440"/>
          <ac:picMkLst>
            <pc:docMk/>
            <pc:sldMk cId="4167199225" sldId="262"/>
            <ac:picMk id="5" creationId="{B3010280-57BB-4426-8994-0BA68AE276EC}"/>
          </ac:picMkLst>
        </pc:picChg>
        <pc:picChg chg="del">
          <ac:chgData name="Nathan Clover" userId="9279fa86c2862059" providerId="LiveId" clId="{4FAE0A29-C2B6-4DBA-8FF0-ED2767DE6BDB}" dt="2025-12-24T20:56:39.272" v="0" actId="478"/>
          <ac:picMkLst>
            <pc:docMk/>
            <pc:sldMk cId="4167199225" sldId="262"/>
            <ac:picMk id="6" creationId="{934366F0-FBEB-47BB-8A07-F2509F9580C0}"/>
          </ac:picMkLst>
        </pc:picChg>
        <pc:picChg chg="add del mod">
          <ac:chgData name="Nathan Clover" userId="9279fa86c2862059" providerId="LiveId" clId="{4FAE0A29-C2B6-4DBA-8FF0-ED2767DE6BDB}" dt="2025-12-24T21:03:24.470" v="46" actId="478"/>
          <ac:picMkLst>
            <pc:docMk/>
            <pc:sldMk cId="4167199225" sldId="262"/>
            <ac:picMk id="8" creationId="{E375AE65-78A3-4753-BB46-28C22D539F1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54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4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00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60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4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56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55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52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5489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9227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2111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213210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3205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4269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3452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196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803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9B482E8-6E0E-1B4F-B1FD-C69DB9E858D9}" type="datetimeFigureOut">
              <a:rPr lang="en-US" smtClean="0"/>
              <a:pPr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854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6B38-F12B-41EB-AD3E-72D98DE85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4464028"/>
            <a:ext cx="9144000" cy="1641490"/>
          </a:xfrm>
        </p:spPr>
        <p:txBody>
          <a:bodyPr>
            <a:normAutofit/>
          </a:bodyPr>
          <a:lstStyle/>
          <a:p>
            <a:pPr algn="ctr"/>
            <a:r>
              <a:rPr lang="ru-RU" sz="4000" b="0" i="0" dirty="0"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Создание сервиса интеллектуальной </a:t>
            </a:r>
            <a:br>
              <a:rPr lang="ru-RU" sz="4000" b="0" i="0" dirty="0"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</a:br>
            <a:r>
              <a:rPr lang="ru-RU" sz="4000" b="0" i="0" dirty="0"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категоризации почтового трафика</a:t>
            </a:r>
            <a:endParaRPr lang="en-US" sz="4000" dirty="0"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B8AB2-373F-4B75-A79D-BDDD406B25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команда </a:t>
            </a:r>
            <a:r>
              <a:rPr lang="en-US" dirty="0"/>
              <a:t>Space Plans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3E9B8-7406-41C4-AB56-BBCE974B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24" y="418680"/>
            <a:ext cx="2514951" cy="301032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</p:pic>
    </p:spTree>
    <p:extLst>
      <p:ext uri="{BB962C8B-B14F-4D97-AF65-F5344CB8AC3E}">
        <p14:creationId xmlns:p14="http://schemas.microsoft.com/office/powerpoint/2010/main" val="2026297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A83A-A4E5-4840-8A6F-ECEF3C6AB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889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team</a:t>
            </a:r>
          </a:p>
        </p:txBody>
      </p:sp>
      <p:pic>
        <p:nvPicPr>
          <p:cNvPr id="7" name="Graphic 6" descr="Duck with solid fill">
            <a:extLst>
              <a:ext uri="{FF2B5EF4-FFF2-40B4-BE49-F238E27FC236}">
                <a16:creationId xmlns:a16="http://schemas.microsoft.com/office/drawing/2014/main" id="{5A03EFD5-2464-49AD-BF9C-8877B992A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7437" y="2354044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2CB103-9391-4EE6-8E21-76AF5D324957}"/>
              </a:ext>
            </a:extLst>
          </p:cNvPr>
          <p:cNvSpPr txBox="1"/>
          <p:nvPr/>
        </p:nvSpPr>
        <p:spPr>
          <a:xfrm>
            <a:off x="2109787" y="3228974"/>
            <a:ext cx="16954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Team Lead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ru-RU" dirty="0"/>
              <a:t>Натан Кловер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30C2E-7181-4878-A231-4FE5EF05B15C}"/>
              </a:ext>
            </a:extLst>
          </p:cNvPr>
          <p:cNvSpPr txBox="1"/>
          <p:nvPr/>
        </p:nvSpPr>
        <p:spPr>
          <a:xfrm>
            <a:off x="4210050" y="3230344"/>
            <a:ext cx="1895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FFFFFF"/>
                </a:solidFill>
                <a:effectLst/>
                <a:latin typeface="-apple-system"/>
              </a:rPr>
              <a:t>Analytics</a:t>
            </a:r>
            <a: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  <a:t> </a:t>
            </a:r>
            <a:br>
              <a:rPr lang="en-US" dirty="0">
                <a:solidFill>
                  <a:srgbClr val="FFFFFF"/>
                </a:solidFill>
                <a:latin typeface="-apple-system"/>
              </a:rPr>
            </a:br>
            <a:b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</a:br>
            <a:b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</a:br>
            <a:r>
              <a:rPr lang="ru-RU" b="0" i="0" dirty="0" err="1">
                <a:solidFill>
                  <a:srgbClr val="FFFFFF"/>
                </a:solidFill>
                <a:effectLst/>
                <a:latin typeface="-apple-system"/>
              </a:rPr>
              <a:t>Жадаев</a:t>
            </a:r>
            <a:r>
              <a:rPr lang="ru-RU" b="0" i="0" dirty="0">
                <a:solidFill>
                  <a:srgbClr val="FFFFFF"/>
                </a:solidFill>
                <a:effectLst/>
                <a:latin typeface="-apple-system"/>
              </a:rPr>
              <a:t> Василий Васильевич</a:t>
            </a:r>
            <a:endParaRPr lang="en-US" dirty="0"/>
          </a:p>
        </p:txBody>
      </p:sp>
      <p:pic>
        <p:nvPicPr>
          <p:cNvPr id="13" name="Graphic 12" descr="DNA with solid fill">
            <a:extLst>
              <a:ext uri="{FF2B5EF4-FFF2-40B4-BE49-F238E27FC236}">
                <a16:creationId xmlns:a16="http://schemas.microsoft.com/office/drawing/2014/main" id="{94B6A55D-1609-4C7D-97B0-D8BCC6E3E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7017" y="2314574"/>
            <a:ext cx="914400" cy="914400"/>
          </a:xfrm>
          <a:prstGeom prst="rect">
            <a:avLst/>
          </a:prstGeom>
        </p:spPr>
      </p:pic>
      <p:pic>
        <p:nvPicPr>
          <p:cNvPr id="15" name="Graphic 14" descr="Easel with solid fill">
            <a:extLst>
              <a:ext uri="{FF2B5EF4-FFF2-40B4-BE49-F238E27FC236}">
                <a16:creationId xmlns:a16="http://schemas.microsoft.com/office/drawing/2014/main" id="{BB20DE0C-EEA2-4DBB-8D5A-5092C55754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0075" y="2315944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AC39F63-B484-413F-A08E-49B7E81789C3}"/>
              </a:ext>
            </a:extLst>
          </p:cNvPr>
          <p:cNvSpPr txBox="1"/>
          <p:nvPr/>
        </p:nvSpPr>
        <p:spPr>
          <a:xfrm>
            <a:off x="6186492" y="3272522"/>
            <a:ext cx="210025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ML development</a:t>
            </a:r>
            <a:br>
              <a:rPr lang="en-US" dirty="0"/>
            </a:br>
            <a:br>
              <a:rPr lang="en-US" dirty="0"/>
            </a:br>
            <a:r>
              <a:rPr lang="ru-RU" b="0" i="0" dirty="0" err="1">
                <a:solidFill>
                  <a:srgbClr val="FFFFFF"/>
                </a:solidFill>
                <a:effectLst/>
                <a:latin typeface="-apple-system"/>
              </a:rPr>
              <a:t>Колотий</a:t>
            </a:r>
            <a:r>
              <a:rPr lang="ru-RU" b="0" i="0" dirty="0">
                <a:solidFill>
                  <a:srgbClr val="FFFFFF"/>
                </a:solidFill>
                <a:effectLst/>
                <a:latin typeface="-apple-system"/>
              </a:rPr>
              <a:t> Марианна Павловна</a:t>
            </a:r>
            <a:b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</a:br>
            <a:b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</a:br>
            <a:r>
              <a:rPr lang="ru-RU" b="0" i="0" dirty="0">
                <a:solidFill>
                  <a:srgbClr val="FFFFFF"/>
                </a:solidFill>
                <a:effectLst/>
                <a:latin typeface="-apple-system"/>
              </a:rPr>
              <a:t>Воронин Михаил Михайлович</a:t>
            </a:r>
            <a:endParaRPr lang="en-US" dirty="0"/>
          </a:p>
        </p:txBody>
      </p:sp>
      <p:pic>
        <p:nvPicPr>
          <p:cNvPr id="18" name="Graphic 17" descr="Diamond with solid fill">
            <a:extLst>
              <a:ext uri="{FF2B5EF4-FFF2-40B4-BE49-F238E27FC236}">
                <a16:creationId xmlns:a16="http://schemas.microsoft.com/office/drawing/2014/main" id="{9422EA36-5171-4AB8-85DF-33E14ADAC5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5863" y="2314574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202B6B8-671C-4CF1-8FA4-4D2780FACD3B}"/>
              </a:ext>
            </a:extLst>
          </p:cNvPr>
          <p:cNvSpPr txBox="1"/>
          <p:nvPr/>
        </p:nvSpPr>
        <p:spPr>
          <a:xfrm>
            <a:off x="8610600" y="3228974"/>
            <a:ext cx="16764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MLOps</a:t>
            </a:r>
            <a:r>
              <a:rPr lang="en-US" sz="2400" dirty="0"/>
              <a:t> + front</a:t>
            </a:r>
          </a:p>
          <a:p>
            <a:endParaRPr lang="en-US" dirty="0"/>
          </a:p>
          <a:p>
            <a:r>
              <a:rPr lang="ru-RU" b="0" i="0" dirty="0">
                <a:solidFill>
                  <a:srgbClr val="FFFFFF"/>
                </a:solidFill>
                <a:effectLst/>
                <a:latin typeface="-apple-system"/>
              </a:rPr>
              <a:t>Прокофьев Михаил Всеволодович</a:t>
            </a:r>
            <a:b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</a:br>
            <a:b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  <a:t>aka</a:t>
            </a:r>
            <a:br>
              <a:rPr lang="en-US" b="0" i="0" dirty="0">
                <a:solidFill>
                  <a:srgbClr val="FFFFFF"/>
                </a:solidFill>
                <a:effectLst/>
                <a:latin typeface="-apple-system"/>
              </a:rPr>
            </a:br>
            <a:r>
              <a:rPr lang="en-US" dirty="0">
                <a:solidFill>
                  <a:srgbClr val="FFFFFF"/>
                </a:solidFill>
                <a:latin typeface="-apple-system"/>
              </a:rPr>
              <a:t>The GOAT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0C6AF-67F4-4690-9388-02A1379AA9B6}"/>
              </a:ext>
            </a:extLst>
          </p:cNvPr>
          <p:cNvSpPr txBox="1"/>
          <p:nvPr/>
        </p:nvSpPr>
        <p:spPr>
          <a:xfrm>
            <a:off x="59748" y="6153935"/>
            <a:ext cx="31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Роли разделены, но решения принимались совместно.</a:t>
            </a:r>
            <a:endParaRPr lang="en-US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10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EFDC-C779-4EB1-964F-AE1633F4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237"/>
            <a:ext cx="10515600" cy="1325563"/>
          </a:xfrm>
        </p:spPr>
        <p:txBody>
          <a:bodyPr/>
          <a:lstStyle/>
          <a:p>
            <a:r>
              <a:rPr lang="ru-RU" dirty="0"/>
              <a:t>Постановка задачи и цель проекта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BA24-C8BF-4BCA-B96E-B68C4876E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00" y="1200150"/>
            <a:ext cx="10515600" cy="52768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 err="1"/>
              <a:t>MailLens</a:t>
            </a:r>
            <a:r>
              <a:rPr lang="ru-RU" b="1" dirty="0"/>
              <a:t>: семантическая классификация почтовых сообщений</a:t>
            </a:r>
          </a:p>
          <a:p>
            <a:pPr marL="0" indent="0">
              <a:buNone/>
            </a:pPr>
            <a:r>
              <a:rPr lang="ru-RU" b="1" dirty="0"/>
              <a:t>Проблема</a:t>
            </a:r>
            <a:br>
              <a:rPr lang="ru-RU" dirty="0"/>
            </a:br>
            <a:r>
              <a:rPr lang="ru-RU" dirty="0"/>
              <a:t>Современная почта содержит разнородные письма (личные, рассылки, бизнес, поддержка), которые сложно классифицировать заранее фиксированными правилами.</a:t>
            </a:r>
            <a:br>
              <a:rPr lang="en-US" dirty="0"/>
            </a:br>
            <a:endParaRPr lang="ru-RU" dirty="0"/>
          </a:p>
          <a:p>
            <a:pPr marL="0" indent="0">
              <a:buNone/>
            </a:pPr>
            <a:r>
              <a:rPr lang="ru-RU" b="1" dirty="0"/>
              <a:t>Цель проекта</a:t>
            </a:r>
            <a:br>
              <a:rPr lang="ru-RU" dirty="0"/>
            </a:br>
            <a:r>
              <a:rPr lang="ru-RU" dirty="0"/>
              <a:t>Разработать сервис, который: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классифицирует письма по </a:t>
            </a:r>
            <a:r>
              <a:rPr lang="ru-RU" b="1" dirty="0">
                <a:solidFill>
                  <a:srgbClr val="92D050"/>
                </a:solidFill>
              </a:rPr>
              <a:t>произвольным категориям пользователя</a:t>
            </a:r>
            <a:r>
              <a:rPr lang="ru-RU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оценивает </a:t>
            </a:r>
            <a:r>
              <a:rPr lang="ru-RU" b="1" dirty="0">
                <a:solidFill>
                  <a:srgbClr val="92D050"/>
                </a:solidFill>
              </a:rPr>
              <a:t>семантическую близость</a:t>
            </a:r>
            <a:r>
              <a:rPr lang="ru-RU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корректно обрабатывает </a:t>
            </a:r>
            <a:r>
              <a:rPr lang="ru-RU" b="1" dirty="0">
                <a:solidFill>
                  <a:srgbClr val="92D050"/>
                </a:solidFill>
              </a:rPr>
              <a:t>неопределённые случаи</a:t>
            </a:r>
            <a:r>
              <a:rPr lang="ru-RU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работает с </a:t>
            </a:r>
            <a:r>
              <a:rPr lang="ru-RU" b="1" dirty="0">
                <a:solidFill>
                  <a:srgbClr val="92D050"/>
                </a:solidFill>
              </a:rPr>
              <a:t>реальными почтовыми форматами</a:t>
            </a:r>
            <a:r>
              <a:rPr lang="ru-RU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48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4A37-73A7-40FA-85C5-3220D08E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5"/>
            <a:ext cx="1156335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Алгоритмический и модельный подход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217A6-ADC3-4197-AF71-ECF903A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825625"/>
            <a:ext cx="11068050" cy="4351338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 err="1"/>
              <a:t>Embedding-based</a:t>
            </a:r>
            <a:r>
              <a:rPr lang="ru-RU" b="1" dirty="0"/>
              <a:t> NLP классификация</a:t>
            </a:r>
          </a:p>
          <a:p>
            <a:r>
              <a:rPr lang="ru-RU" b="1" dirty="0"/>
              <a:t>Основной подход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Представление текста письма и категорий в виде векторов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Сравнение векторов через </a:t>
            </a:r>
            <a:r>
              <a:rPr lang="ru-RU" dirty="0" err="1"/>
              <a:t>cosine</a:t>
            </a:r>
            <a:r>
              <a:rPr lang="ru-RU" dirty="0"/>
              <a:t> </a:t>
            </a:r>
            <a:r>
              <a:rPr lang="ru-RU" dirty="0" err="1"/>
              <a:t>similarity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Отказ от обучения под фиксированный набор классов</a:t>
            </a:r>
          </a:p>
          <a:p>
            <a:r>
              <a:rPr lang="ru-RU" b="1" dirty="0"/>
              <a:t>Используемая модель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Sentence</a:t>
            </a:r>
            <a:r>
              <a:rPr lang="ru-RU" dirty="0"/>
              <a:t> </a:t>
            </a:r>
            <a:r>
              <a:rPr lang="ru-RU" dirty="0" err="1"/>
              <a:t>Transformers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Модель: </a:t>
            </a:r>
            <a:r>
              <a:rPr lang="ru-RU" b="1" dirty="0"/>
              <a:t>BAAI / bge-m3</a:t>
            </a:r>
            <a:r>
              <a:rPr lang="en-US" b="1" dirty="0"/>
              <a:t> (</a:t>
            </a:r>
            <a:r>
              <a:rPr lang="en-US" b="1" dirty="0" err="1"/>
              <a:t>Huggingface</a:t>
            </a:r>
            <a:r>
              <a:rPr lang="en-US" b="1" dirty="0"/>
              <a:t>)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Нормализованные </a:t>
            </a:r>
            <a:r>
              <a:rPr lang="ru-RU" dirty="0" err="1"/>
              <a:t>эмбеддинги</a:t>
            </a:r>
            <a:endParaRPr lang="ru-RU" dirty="0"/>
          </a:p>
          <a:p>
            <a:r>
              <a:rPr lang="ru-RU" b="1" dirty="0"/>
              <a:t>Аппаратное ускорение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PyTorch</a:t>
            </a:r>
            <a:r>
              <a:rPr lang="ru-RU" dirty="0"/>
              <a:t> </a:t>
            </a:r>
            <a:r>
              <a:rPr lang="ru-RU" dirty="0" err="1"/>
              <a:t>backend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Автоматическое использование CUDA</a:t>
            </a:r>
            <a:r>
              <a:rPr lang="ru-RU" dirty="0"/>
              <a:t>, если GPU доступен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Корректная работа на CPU при отсутствии GPU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A1D0C-869B-450A-9487-94346831B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007" y="2263775"/>
            <a:ext cx="2638793" cy="1962424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563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0432-76EE-4A1D-83FC-126416F9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ML-</a:t>
            </a:r>
            <a:r>
              <a:rPr lang="ru-RU" dirty="0"/>
              <a:t>сервиса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41182-C023-435A-A54F-C1A31D56C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690688"/>
            <a:ext cx="10763250" cy="4802187"/>
          </a:xfrm>
        </p:spPr>
        <p:txBody>
          <a:bodyPr>
            <a:normAutofit/>
          </a:bodyPr>
          <a:lstStyle/>
          <a:p>
            <a:r>
              <a:rPr lang="en-US" b="1" dirty="0"/>
              <a:t>End-to-end </a:t>
            </a:r>
            <a:r>
              <a:rPr lang="ru-RU" b="1" dirty="0" err="1"/>
              <a:t>пайплайн</a:t>
            </a:r>
            <a:r>
              <a:rPr lang="ru-RU" b="1" dirty="0"/>
              <a:t> обработки</a:t>
            </a:r>
          </a:p>
          <a:p>
            <a:pPr>
              <a:buFont typeface="+mj-lt"/>
              <a:buAutoNum type="arabicPeriod"/>
            </a:pPr>
            <a:r>
              <a:rPr lang="en-US" dirty="0"/>
              <a:t>Web-</a:t>
            </a:r>
            <a:r>
              <a:rPr lang="ru-RU" dirty="0"/>
              <a:t>интерфейс → загрузка писем и категорий</a:t>
            </a:r>
          </a:p>
          <a:p>
            <a:pPr>
              <a:buFont typeface="+mj-lt"/>
              <a:buAutoNum type="arabicPeriod"/>
            </a:pPr>
            <a:r>
              <a:rPr lang="en-US" dirty="0"/>
              <a:t>Flask API → </a:t>
            </a:r>
            <a:r>
              <a:rPr lang="ru-RU" dirty="0"/>
              <a:t>приём и валидация</a:t>
            </a:r>
          </a:p>
          <a:p>
            <a:pPr>
              <a:buFont typeface="+mj-lt"/>
              <a:buAutoNum type="arabicPeriod"/>
            </a:pPr>
            <a:r>
              <a:rPr lang="ru-RU" dirty="0"/>
              <a:t>Парсер → извлечение текста и вложений</a:t>
            </a:r>
          </a:p>
          <a:p>
            <a:pPr>
              <a:buFont typeface="+mj-lt"/>
              <a:buAutoNum type="arabicPeriod"/>
            </a:pPr>
            <a:r>
              <a:rPr lang="en-US" dirty="0"/>
              <a:t>ML-</a:t>
            </a:r>
            <a:r>
              <a:rPr lang="ru-RU" dirty="0"/>
              <a:t>модуль → </a:t>
            </a:r>
            <a:r>
              <a:rPr lang="ru-RU" dirty="0" err="1"/>
              <a:t>эмбеддинги</a:t>
            </a:r>
            <a:r>
              <a:rPr lang="ru-RU" dirty="0"/>
              <a:t> и </a:t>
            </a:r>
            <a:r>
              <a:rPr lang="en-US" dirty="0"/>
              <a:t>similarity</a:t>
            </a:r>
          </a:p>
          <a:p>
            <a:pPr>
              <a:buFont typeface="+mj-lt"/>
              <a:buAutoNum type="arabicPeriod"/>
            </a:pPr>
            <a:r>
              <a:rPr lang="en-US" dirty="0"/>
              <a:t>Decision layer → </a:t>
            </a:r>
            <a:r>
              <a:rPr lang="ru-RU" dirty="0"/>
              <a:t>порог уверенности</a:t>
            </a:r>
          </a:p>
          <a:p>
            <a:pPr>
              <a:buFont typeface="+mj-lt"/>
              <a:buAutoNum type="arabicPeriod"/>
            </a:pPr>
            <a:r>
              <a:rPr lang="en-US" dirty="0"/>
              <a:t>UI → </a:t>
            </a:r>
            <a:r>
              <a:rPr lang="ru-RU" dirty="0"/>
              <a:t>визуализация результатов</a:t>
            </a:r>
          </a:p>
          <a:p>
            <a:r>
              <a:rPr lang="ru-RU" b="1" dirty="0"/>
              <a:t>Ключевой принцип:</a:t>
            </a:r>
            <a:r>
              <a:rPr lang="ru-RU" dirty="0"/>
              <a:t> простая, расширяемая архитектура без сильных зависимостей.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601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4D67-F64E-4E9E-801D-B02B6AAF4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365125"/>
            <a:ext cx="1171575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Обработка почтовых форматов и данных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B80B8-A076-478E-A055-A6CB95B76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485900"/>
            <a:ext cx="10820400" cy="5006975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ru-RU" dirty="0"/>
              <a:t>Работа с реальными письмами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Поддерживаемые форматы</a:t>
            </a:r>
            <a:br>
              <a:rPr lang="ru-RU" dirty="0"/>
            </a:br>
            <a:br>
              <a:rPr lang="ru-RU" dirty="0"/>
            </a:br>
            <a:r>
              <a:rPr lang="ru-RU" dirty="0"/>
              <a:t>.</a:t>
            </a:r>
            <a:r>
              <a:rPr lang="en-US" dirty="0" err="1"/>
              <a:t>eml</a:t>
            </a:r>
            <a:r>
              <a:rPr lang="en-US" dirty="0"/>
              <a:t> — </a:t>
            </a:r>
            <a:r>
              <a:rPr lang="ru-RU" dirty="0"/>
              <a:t>стандартный </a:t>
            </a:r>
            <a:r>
              <a:rPr lang="en-US" dirty="0"/>
              <a:t>email </a:t>
            </a:r>
            <a:r>
              <a:rPr lang="ru-RU" dirty="0"/>
              <a:t>формат</a:t>
            </a:r>
            <a:br>
              <a:rPr lang="ru-RU" dirty="0"/>
            </a:br>
            <a:r>
              <a:rPr lang="ru-RU" dirty="0"/>
              <a:t>.</a:t>
            </a:r>
            <a:r>
              <a:rPr lang="en-US" dirty="0"/>
              <a:t>msg — Microsoft Outlook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Обрабатываемые данные</a:t>
            </a:r>
            <a:r>
              <a:rPr lang="he-IL" dirty="0"/>
              <a:t>:</a:t>
            </a:r>
            <a:br>
              <a:rPr lang="ru-RU" dirty="0"/>
            </a:br>
            <a:r>
              <a:rPr lang="en-US" dirty="0"/>
              <a:t>Subject</a:t>
            </a:r>
            <a:r>
              <a:rPr lang="ru-RU" dirty="0"/>
              <a:t>                                              Текстовые вложения</a:t>
            </a:r>
            <a:br>
              <a:rPr lang="ru-RU" dirty="0"/>
            </a:br>
            <a:r>
              <a:rPr lang="en-US" dirty="0"/>
              <a:t>Plain text</a:t>
            </a:r>
            <a:r>
              <a:rPr lang="ru-RU" dirty="0"/>
              <a:t>                                          Ссылки</a:t>
            </a:r>
            <a:br>
              <a:rPr lang="ru-RU" dirty="0"/>
            </a:br>
            <a:r>
              <a:rPr lang="en-US" dirty="0"/>
              <a:t>HTML (</a:t>
            </a:r>
            <a:r>
              <a:rPr lang="ru-RU" dirty="0"/>
              <a:t>очистка)                            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ECABC-E3AF-4227-9882-C3F68AC23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261" y="1382604"/>
            <a:ext cx="4061279" cy="3480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5853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53D6-7E6D-4B93-A691-A8CE7BE1D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5"/>
            <a:ext cx="11658600" cy="1325563"/>
          </a:xfrm>
        </p:spPr>
        <p:txBody>
          <a:bodyPr>
            <a:normAutofit/>
          </a:bodyPr>
          <a:lstStyle/>
          <a:p>
            <a:r>
              <a:rPr lang="ru-RU" dirty="0"/>
              <a:t>Класс “Не определен”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48E49-5639-43C7-902F-4785B4789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466850"/>
            <a:ext cx="11068050" cy="47101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Интерпретируемая логика классификации</a:t>
            </a:r>
          </a:p>
          <a:p>
            <a:pPr marL="0" indent="0">
              <a:buNone/>
            </a:pPr>
            <a:r>
              <a:rPr lang="ru-RU" dirty="0"/>
              <a:t>Процесс</a:t>
            </a:r>
            <a:r>
              <a:rPr lang="he-IL" dirty="0"/>
              <a:t>:</a:t>
            </a:r>
            <a:br>
              <a:rPr lang="en-US" dirty="0"/>
            </a:br>
            <a:r>
              <a:rPr lang="ru-RU" dirty="0"/>
              <a:t>Вычисляется </a:t>
            </a:r>
            <a:r>
              <a:rPr lang="ru-RU" dirty="0" err="1"/>
              <a:t>similarity</a:t>
            </a:r>
            <a:r>
              <a:rPr lang="ru-RU" dirty="0"/>
              <a:t> для каждой категории</a:t>
            </a:r>
            <a:br>
              <a:rPr lang="ru-RU" dirty="0"/>
            </a:br>
            <a:r>
              <a:rPr lang="ru-RU" dirty="0" err="1"/>
              <a:t>Категории</a:t>
            </a:r>
            <a:r>
              <a:rPr lang="ru-RU" dirty="0"/>
              <a:t> сортируются по </a:t>
            </a:r>
            <a:r>
              <a:rPr lang="ru-RU" dirty="0" err="1"/>
              <a:t>score</a:t>
            </a:r>
            <a:br>
              <a:rPr lang="ru-RU" dirty="0"/>
            </a:br>
            <a:r>
              <a:rPr lang="ru-RU" dirty="0"/>
              <a:t>Выбирается лучшая категория</a:t>
            </a:r>
            <a:br>
              <a:rPr lang="en-US" dirty="0"/>
            </a:br>
            <a:br>
              <a:rPr lang="ru-RU" dirty="0"/>
            </a:br>
            <a:r>
              <a:rPr lang="ru-RU" dirty="0" err="1"/>
              <a:t>Reject</a:t>
            </a:r>
            <a:r>
              <a:rPr lang="ru-RU" dirty="0"/>
              <a:t>-механизм</a:t>
            </a:r>
            <a:r>
              <a:rPr lang="he-IL" dirty="0"/>
              <a:t>:</a:t>
            </a:r>
            <a:br>
              <a:rPr lang="ru-RU" dirty="0"/>
            </a:br>
            <a:r>
              <a:rPr lang="ru-RU" dirty="0"/>
              <a:t>Используется порог уверенности Адаптивными порогами</a:t>
            </a:r>
          </a:p>
          <a:p>
            <a:pPr marL="0" indent="0">
              <a:buNone/>
            </a:pPr>
            <a:r>
              <a:rPr lang="ru-RU" dirty="0"/>
              <a:t>Если уверенность ниже порога → «Не определен»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Почему это важно</a:t>
            </a:r>
            <a:r>
              <a:rPr lang="he-IL" dirty="0"/>
              <a:t>:</a:t>
            </a:r>
            <a:br>
              <a:rPr lang="ru-RU" dirty="0"/>
            </a:br>
            <a:r>
              <a:rPr lang="ru-RU" dirty="0"/>
              <a:t>Снижение ложных классификаций</a:t>
            </a:r>
            <a:br>
              <a:rPr lang="ru-RU" dirty="0"/>
            </a:br>
            <a:r>
              <a:rPr lang="ru-RU" dirty="0"/>
              <a:t>Этичная работа с неопределёнными данными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10280-57BB-4426-8994-0BA68AE27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5" t="7143" r="5260" b="18745"/>
          <a:stretch/>
        </p:blipFill>
        <p:spPr>
          <a:xfrm>
            <a:off x="8167275" y="1145970"/>
            <a:ext cx="3830514" cy="23869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719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3DAB-AC85-4974-94FE-E8B814041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01612"/>
            <a:ext cx="10515600" cy="1325563"/>
          </a:xfrm>
        </p:spPr>
        <p:txBody>
          <a:bodyPr/>
          <a:lstStyle/>
          <a:p>
            <a:r>
              <a:rPr lang="ru-RU" dirty="0"/>
              <a:t>Направления развития и 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7B08F-3007-45FF-A8DA-3B42C22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543050"/>
            <a:ext cx="11334750" cy="4949825"/>
          </a:xfrm>
        </p:spPr>
        <p:txBody>
          <a:bodyPr>
            <a:normAutofit/>
          </a:bodyPr>
          <a:lstStyle/>
          <a:p>
            <a:r>
              <a:rPr lang="ru-RU" b="1" dirty="0"/>
              <a:t>Возможные улучшения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Адаптивные пороги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Few-shot</a:t>
            </a:r>
            <a:r>
              <a:rPr lang="ru-RU" dirty="0"/>
              <a:t> примеры категорий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Кэширование </a:t>
            </a:r>
            <a:r>
              <a:rPr lang="ru-RU" dirty="0" err="1"/>
              <a:t>эмбеддингов</a:t>
            </a:r>
            <a:br>
              <a:rPr lang="en-US" dirty="0"/>
            </a:br>
            <a:endParaRPr lang="ru-RU" dirty="0"/>
          </a:p>
          <a:p>
            <a:r>
              <a:rPr lang="ru-RU" b="1" dirty="0"/>
              <a:t>Вывод</a:t>
            </a:r>
          </a:p>
          <a:p>
            <a:r>
              <a:rPr lang="ru-RU" dirty="0" err="1"/>
              <a:t>MailLens</a:t>
            </a:r>
            <a:r>
              <a:rPr lang="ru-RU" dirty="0"/>
              <a:t> — это практический ML-сервис, демонстрирующий: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применение современных NLP-моделей,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корректную инженерную реализацию,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осознанный подход к неопределённости данных.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53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D3D4-8F03-42AD-907C-2A0CD3D69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91800" cy="5768975"/>
          </a:xfrm>
        </p:spPr>
        <p:txBody>
          <a:bodyPr/>
          <a:lstStyle/>
          <a:p>
            <a:r>
              <a:rPr lang="ru-RU" dirty="0"/>
              <a:t>Благодарим </a:t>
            </a:r>
            <a:br>
              <a:rPr lang="ru-RU" dirty="0"/>
            </a:br>
            <a:r>
              <a:rPr lang="ru-RU" dirty="0"/>
              <a:t>за ваше </a:t>
            </a:r>
            <a:br>
              <a:rPr lang="ru-RU" dirty="0"/>
            </a:br>
            <a:r>
              <a:rPr lang="ru-RU" dirty="0"/>
              <a:t>время </a:t>
            </a:r>
            <a:endParaRPr lang="en-US" dirty="0"/>
          </a:p>
        </p:txBody>
      </p:sp>
      <p:pic>
        <p:nvPicPr>
          <p:cNvPr id="7" name="Graphic 6" descr="Snowflake with solid fill">
            <a:extLst>
              <a:ext uri="{FF2B5EF4-FFF2-40B4-BE49-F238E27FC236}">
                <a16:creationId xmlns:a16="http://schemas.microsoft.com/office/drawing/2014/main" id="{1D07EFED-9970-4B95-BC14-82FFA899F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6278" y="5295901"/>
            <a:ext cx="1276350" cy="1276350"/>
          </a:xfrm>
          <a:prstGeom prst="rect">
            <a:avLst/>
          </a:prstGeom>
        </p:spPr>
      </p:pic>
      <p:pic>
        <p:nvPicPr>
          <p:cNvPr id="8" name="Graphic 7" descr="Snowflake with solid fill">
            <a:extLst>
              <a:ext uri="{FF2B5EF4-FFF2-40B4-BE49-F238E27FC236}">
                <a16:creationId xmlns:a16="http://schemas.microsoft.com/office/drawing/2014/main" id="{7AD4A64C-49EC-484E-9FFA-A5027512A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0098" y="-73026"/>
            <a:ext cx="1276350" cy="1276350"/>
          </a:xfrm>
          <a:prstGeom prst="rect">
            <a:avLst/>
          </a:prstGeom>
        </p:spPr>
      </p:pic>
      <p:pic>
        <p:nvPicPr>
          <p:cNvPr id="9" name="Graphic 8" descr="Snowflake with solid fill">
            <a:extLst>
              <a:ext uri="{FF2B5EF4-FFF2-40B4-BE49-F238E27FC236}">
                <a16:creationId xmlns:a16="http://schemas.microsoft.com/office/drawing/2014/main" id="{86EB59F0-9936-486B-89AE-65E93F1DB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930" y="219075"/>
            <a:ext cx="1276350" cy="1276350"/>
          </a:xfrm>
          <a:prstGeom prst="rect">
            <a:avLst/>
          </a:prstGeom>
        </p:spPr>
      </p:pic>
      <p:pic>
        <p:nvPicPr>
          <p:cNvPr id="10" name="Graphic 9" descr="Snowflake with solid fill">
            <a:extLst>
              <a:ext uri="{FF2B5EF4-FFF2-40B4-BE49-F238E27FC236}">
                <a16:creationId xmlns:a16="http://schemas.microsoft.com/office/drawing/2014/main" id="{61B695E5-F5E4-4565-B5A6-A0512D939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2995" y="3590925"/>
            <a:ext cx="1276350" cy="1276350"/>
          </a:xfrm>
          <a:prstGeom prst="rect">
            <a:avLst/>
          </a:prstGeom>
        </p:spPr>
      </p:pic>
      <p:pic>
        <p:nvPicPr>
          <p:cNvPr id="11" name="Graphic 10" descr="Snowflake with solid fill">
            <a:extLst>
              <a:ext uri="{FF2B5EF4-FFF2-40B4-BE49-F238E27FC236}">
                <a16:creationId xmlns:a16="http://schemas.microsoft.com/office/drawing/2014/main" id="{92079925-68B9-4378-90D3-1D5D1BD79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0022" y="336550"/>
            <a:ext cx="1276350" cy="1276350"/>
          </a:xfrm>
          <a:prstGeom prst="rect">
            <a:avLst/>
          </a:prstGeom>
        </p:spPr>
      </p:pic>
      <p:pic>
        <p:nvPicPr>
          <p:cNvPr id="13" name="Graphic 12" descr="Fir tree with solid fill">
            <a:extLst>
              <a:ext uri="{FF2B5EF4-FFF2-40B4-BE49-F238E27FC236}">
                <a16:creationId xmlns:a16="http://schemas.microsoft.com/office/drawing/2014/main" id="{0FDA7286-3832-4628-A37E-F68018F0DD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77153" y="4886325"/>
            <a:ext cx="2162176" cy="2162176"/>
          </a:xfrm>
          <a:prstGeom prst="rect">
            <a:avLst/>
          </a:prstGeom>
        </p:spPr>
      </p:pic>
      <p:pic>
        <p:nvPicPr>
          <p:cNvPr id="14" name="Graphic 13" descr="Fir tree with solid fill">
            <a:extLst>
              <a:ext uri="{FF2B5EF4-FFF2-40B4-BE49-F238E27FC236}">
                <a16:creationId xmlns:a16="http://schemas.microsoft.com/office/drawing/2014/main" id="{D26BAB0F-7041-426D-BF5B-E85EDC402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9824" y="4867275"/>
            <a:ext cx="2162176" cy="2162176"/>
          </a:xfrm>
          <a:prstGeom prst="rect">
            <a:avLst/>
          </a:prstGeom>
        </p:spPr>
      </p:pic>
      <p:pic>
        <p:nvPicPr>
          <p:cNvPr id="15" name="Graphic 14" descr="Fir tree with solid fill">
            <a:extLst>
              <a:ext uri="{FF2B5EF4-FFF2-40B4-BE49-F238E27FC236}">
                <a16:creationId xmlns:a16="http://schemas.microsoft.com/office/drawing/2014/main" id="{44BC7A67-37FD-44E4-B1B6-C0CA7DF13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0326" y="5000625"/>
            <a:ext cx="2162176" cy="2162176"/>
          </a:xfrm>
          <a:prstGeom prst="rect">
            <a:avLst/>
          </a:prstGeom>
        </p:spPr>
      </p:pic>
      <p:pic>
        <p:nvPicPr>
          <p:cNvPr id="16" name="Graphic 15" descr="Fir tree with solid fill">
            <a:extLst>
              <a:ext uri="{FF2B5EF4-FFF2-40B4-BE49-F238E27FC236}">
                <a16:creationId xmlns:a16="http://schemas.microsoft.com/office/drawing/2014/main" id="{7CC08C6D-49F5-40DB-840E-8C89ED0F06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9756" y="4848225"/>
            <a:ext cx="2162176" cy="2162176"/>
          </a:xfrm>
          <a:prstGeom prst="rect">
            <a:avLst/>
          </a:prstGeom>
        </p:spPr>
      </p:pic>
      <p:pic>
        <p:nvPicPr>
          <p:cNvPr id="17" name="Graphic 16" descr="Fir tree with solid fill">
            <a:extLst>
              <a:ext uri="{FF2B5EF4-FFF2-40B4-BE49-F238E27FC236}">
                <a16:creationId xmlns:a16="http://schemas.microsoft.com/office/drawing/2014/main" id="{E0661DF2-FBC5-4187-A38E-B22C184D97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3006" y="4657726"/>
            <a:ext cx="2162176" cy="2466975"/>
          </a:xfrm>
          <a:prstGeom prst="rect">
            <a:avLst/>
          </a:prstGeom>
        </p:spPr>
      </p:pic>
      <p:pic>
        <p:nvPicPr>
          <p:cNvPr id="18" name="Graphic 17" descr="Fir tree with solid fill">
            <a:extLst>
              <a:ext uri="{FF2B5EF4-FFF2-40B4-BE49-F238E27FC236}">
                <a16:creationId xmlns:a16="http://schemas.microsoft.com/office/drawing/2014/main" id="{D3B775A4-E124-4715-8F4D-EB374484A5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3688" y="4543425"/>
            <a:ext cx="2162176" cy="2452689"/>
          </a:xfrm>
          <a:prstGeom prst="rect">
            <a:avLst/>
          </a:prstGeom>
        </p:spPr>
      </p:pic>
      <p:pic>
        <p:nvPicPr>
          <p:cNvPr id="19" name="Graphic 18" descr="Fir tree with solid fill">
            <a:extLst>
              <a:ext uri="{FF2B5EF4-FFF2-40B4-BE49-F238E27FC236}">
                <a16:creationId xmlns:a16="http://schemas.microsoft.com/office/drawing/2014/main" id="{1264F759-4179-44E0-9569-767D51584F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8347" y="4833938"/>
            <a:ext cx="2162176" cy="2162176"/>
          </a:xfrm>
          <a:prstGeom prst="rect">
            <a:avLst/>
          </a:prstGeom>
        </p:spPr>
      </p:pic>
      <p:pic>
        <p:nvPicPr>
          <p:cNvPr id="20" name="Graphic 19" descr="Fir tree with solid fill">
            <a:extLst>
              <a:ext uri="{FF2B5EF4-FFF2-40B4-BE49-F238E27FC236}">
                <a16:creationId xmlns:a16="http://schemas.microsoft.com/office/drawing/2014/main" id="{2BD04E08-A597-427F-8695-151B4ECF69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6105" y="4848225"/>
            <a:ext cx="2162176" cy="2162176"/>
          </a:xfrm>
          <a:prstGeom prst="rect">
            <a:avLst/>
          </a:prstGeom>
        </p:spPr>
      </p:pic>
      <p:pic>
        <p:nvPicPr>
          <p:cNvPr id="21" name="Graphic 20" descr="Fir tree with solid fill">
            <a:extLst>
              <a:ext uri="{FF2B5EF4-FFF2-40B4-BE49-F238E27FC236}">
                <a16:creationId xmlns:a16="http://schemas.microsoft.com/office/drawing/2014/main" id="{BB86E726-9DB5-4CD9-BEC8-065A7BC14B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91701" y="4886325"/>
            <a:ext cx="2162176" cy="2162176"/>
          </a:xfrm>
          <a:prstGeom prst="rect">
            <a:avLst/>
          </a:prstGeom>
        </p:spPr>
      </p:pic>
      <p:pic>
        <p:nvPicPr>
          <p:cNvPr id="23" name="Graphic 22" descr="Fireworks with solid fill">
            <a:extLst>
              <a:ext uri="{FF2B5EF4-FFF2-40B4-BE49-F238E27FC236}">
                <a16:creationId xmlns:a16="http://schemas.microsoft.com/office/drawing/2014/main" id="{4102B40B-46F6-41BF-8480-6A9E59DEC5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1092191">
            <a:off x="6898912" y="1777188"/>
            <a:ext cx="2798595" cy="279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428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187</TotalTime>
  <Words>384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-apple-system</vt:lpstr>
      <vt:lpstr>Arial</vt:lpstr>
      <vt:lpstr>Bahnschrift</vt:lpstr>
      <vt:lpstr>Bahnschrift SemiBold Condensed</vt:lpstr>
      <vt:lpstr>Corbel</vt:lpstr>
      <vt:lpstr>Depth</vt:lpstr>
      <vt:lpstr>Создание сервиса интеллектуальной  категоризации почтового трафика</vt:lpstr>
      <vt:lpstr>The team</vt:lpstr>
      <vt:lpstr>Постановка задачи и цель проекта</vt:lpstr>
      <vt:lpstr>Алгоритмический и модельный подход</vt:lpstr>
      <vt:lpstr>Архитектура ML-сервиса</vt:lpstr>
      <vt:lpstr>Обработка почтовых форматов и данных</vt:lpstr>
      <vt:lpstr>Класс “Не определен”</vt:lpstr>
      <vt:lpstr>Направления развития и выводы</vt:lpstr>
      <vt:lpstr>Благодарим  за ваше  время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сервиса интеллектуальной  категоризации почтового трафика</dc:title>
  <dc:creator>Nathan Clover</dc:creator>
  <cp:lastModifiedBy>Nathan Clover</cp:lastModifiedBy>
  <cp:revision>3</cp:revision>
  <dcterms:created xsi:type="dcterms:W3CDTF">2025-12-21T17:24:35Z</dcterms:created>
  <dcterms:modified xsi:type="dcterms:W3CDTF">2025-12-25T16:33:58Z</dcterms:modified>
</cp:coreProperties>
</file>